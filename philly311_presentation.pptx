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Request volume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Traffic Signal
Emergency</c:v>
                  </c:pt>
                  <c:pt idx="1">
                    <c:v>Street Light
Outage</c:v>
                  </c:pt>
                  <c:pt idx="2">
                    <c:v>Street
Defect</c:v>
                  </c:pt>
                  <c:pt idx="3">
                    <c:v>Abandoned
Vehicle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46824</c:v>
                </c:pt>
                <c:pt idx="1">
                  <c:v>141191</c:v>
                </c:pt>
                <c:pt idx="2">
                  <c:v>170372</c:v>
                </c:pt>
                <c:pt idx="3">
                  <c:v>275465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5 slowest zip codes (median 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days to resolve</c:v>
                </c:pt>
              </c:strCache>
            </c:strRef>
          </c:tx>
          <c:spPr>
            <a:solidFill>
              <a:srgbClr val="F0A03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19144</c:v>
                  </c:pt>
                  <c:pt idx="1">
                    <c:v>19114</c:v>
                  </c:pt>
                  <c:pt idx="2">
                    <c:v>19139</c:v>
                  </c:pt>
                  <c:pt idx="3">
                    <c:v>19104</c:v>
                  </c:pt>
                  <c:pt idx="4">
                    <c:v>19154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237.9</c:v>
                </c:pt>
                <c:pt idx="1">
                  <c:v>244.9</c:v>
                </c:pt>
                <c:pt idx="2">
                  <c:v>255.7</c:v>
                </c:pt>
                <c:pt idx="3">
                  <c:v>274.3</c:v>
                </c:pt>
                <c:pt idx="4">
                  <c:v>357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Median resolution hours by cluster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resolution (hours)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Cluster 1
(n=108,712)</c:v>
                  </c:pt>
                  <c:pt idx="1">
                    <c:v>Cluster 0
(n=17,420)</c:v>
                  </c:pt>
                  <c:pt idx="2">
                    <c:v>Cluster 3
(n=24,654)</c:v>
                  </c:pt>
                  <c:pt idx="3">
                    <c:v>Cluster 2
(n=100,112)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2803.5</c:v>
                </c:pt>
                <c:pt idx="1">
                  <c:v>2893.9</c:v>
                </c:pt>
                <c:pt idx="2">
                  <c:v>3421.7</c:v>
                </c:pt>
                <c:pt idx="3">
                  <c:v>3503.8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754880" cy="4754880"/>
          </a:xfrm>
          <a:prstGeom prst="ellipse">
            <a:avLst/>
          </a:prstGeom>
          <a:solidFill>
            <a:srgbClr val="4A557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4A5578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311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Abandoned Vehicle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Time?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regression, classification, and clustering analysis of Philadelphia's open 311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[Course]  · 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how long it takes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Philadelphia to resolve an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abandoned vehicle request?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690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abandoned vehicle report ties up a police case and a resident's street. Understanding what actually predicts a fast vs. slow resolution matters for both city resource planning and resident expectations.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1600200"/>
            <a:ext cx="2834640" cy="2834640"/>
          </a:xfrm>
          <a:prstGeom prst="ellipse">
            <a:avLst/>
          </a:prstGeom>
          <a:solidFill>
            <a:srgbClr val="4A5578">
              <a:alpha val="65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78892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32461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32461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0" y="2148840"/>
            <a:ext cx="777240" cy="777240"/>
          </a:xfrm>
          <a:prstGeom prst="ellipse">
            <a:avLst/>
          </a:prstGeom>
          <a:solidFill>
            <a:srgbClr val="F0A030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55580" y="2240280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Philadelphia Open Data — 311 Requests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CARTO SQL API, table public_cases_fc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Subset: Abandoned Vehicle — highest volume of the suggested categories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275,351 raw requests → 252,419 usable after cleaning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 2014 –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Vehicle had 62% more volume than the next-largest option — meaningful for reliable train/test splits.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09360" y="1554480"/>
          <a:ext cx="5212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lot of requests never really close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22,932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(8.3%) still open —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aside rather than dropped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0A0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21488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463</a:t>
            </a:r>
            <a:endParaRPr lang="en-US" sz="58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3337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(0.18%) marked “Information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Provided,” not “Issue Resolved” — likely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administrative, not real fixes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documented and handled deliberately — not dropped silently.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matters. Timing barely does.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~131 days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resolution time (3,135 hours) across all Abandoned Vehicle requests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6616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 shows real spread — slowest zip averages ~357 days, more than double the citywide median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shows almost no effect — resolution time looks nearly flat Mon–Sun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resolution time is heavily right-skewed — log-transformed for modeling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309360" y="1554480"/>
          <a:ext cx="5212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resolution time?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0.00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median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0.05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4,676 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0.06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00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4,696 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4340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~6% of the variation in resolution time is explained by </a:t>
            </a:r>
            <a:pPr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where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request is filed. That's a real finding: resolution time is likely driven by factors this dataset doesn't capture — towing capacity, legal holds, staffing — not by request timing or location alone.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vs. slow: better than a coin flip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median split at 3,159 hours (~131.6 days)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12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59.7%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57400" y="21031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57400" y="2212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0.589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2212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0.639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21031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212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724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up from a 50% majority-class baseline. Modestly biased toward flagging “slow,” which could be useful for a proactive triage tool: better to over-warn than miss a delay.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(Random Forest)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20116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21214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13,929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5786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fast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fast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06840" y="20116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E4E9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06840" y="21214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11,161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25786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fast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slow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66560" y="31546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E4E9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0" y="32644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9,070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7216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slow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fast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06840" y="31546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F0A03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06840" y="32644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16,020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37216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slow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Pred. slow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request profiles, k = 4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vs. weekday is the dominant split — one cluster is 100% weekend, the rest 0%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day-of-week barely affects speed (slide 5) — clusters group by profile, not by outcome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clusters share the same top zip and time of day, yet differ by ~1 month in resolution — likely a seasonal effect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309360" y="1554480"/>
          <a:ext cx="5212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4A5578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and location matter—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only a little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for abandoned vehicles (median ~131 days) is only weakly explained by when or where a request is filed (R²≈0.06, ~60% classification accuracy). Location carries more signal than timing. The real driver is most likely operational capacity — towing queues, legal holds, staffing — outside this dataset.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·  Still-open requests (8.3%) excluded from time analysis, skewing recent months  ·  Small tail (0.18%) of likely administrative closures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Incorporate operational data — towing queue length, staffing levels, legal hold status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4114800" cy="4114800"/>
          </a:xfrm>
          <a:prstGeom prst="ellipse">
            <a:avLst/>
          </a:prstGeom>
          <a:solidFill>
            <a:srgbClr val="4A5578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311 · Abandoned Vehicle Resolution Time Analysis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2026-09-03T08:31:53Z</dcterms:created>
  <dcterms:modified xsi:type="dcterms:W3CDTF">2026-09-03T08:31:53Z</dcterms:modified>
</cp:coreProperties>
</file>